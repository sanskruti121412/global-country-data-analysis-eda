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1" r:id="rId4"/>
    <p:sldId id="272" r:id="rId5"/>
    <p:sldId id="270" r:id="rId6"/>
    <p:sldId id="261" r:id="rId7"/>
    <p:sldId id="262" r:id="rId8"/>
    <p:sldId id="263" r:id="rId9"/>
    <p:sldId id="269" r:id="rId10"/>
    <p:sldId id="265" r:id="rId11"/>
    <p:sldId id="266" r:id="rId12"/>
    <p:sldId id="267" r:id="rId13"/>
    <p:sldId id="268" r:id="rId14"/>
    <p:sldId id="259" r:id="rId15"/>
  </p:sldIdLst>
  <p:sldSz cx="12192000" cy="6858000"/>
  <p:notesSz cx="6858000" cy="9144000"/>
  <p:embeddedFontLst>
    <p:embeddedFont>
      <p:font typeface="Lato Black" charset="0"/>
      <p:bold r:id="rId17"/>
      <p:boldItalic r:id="rId18"/>
    </p:embeddedFont>
    <p:embeddedFont>
      <p:font typeface="Corbel" pitchFamily="34" charset="0"/>
      <p:regular r:id="rId19"/>
      <p:bold r:id="rId20"/>
      <p:italic r:id="rId21"/>
      <p:boldItalic r:id="rId22"/>
    </p:embeddedFont>
    <p:embeddedFont>
      <p:font typeface="Bodoni MT" pitchFamily="18" charset="0"/>
      <p:regular r:id="rId23"/>
      <p:bold r:id="rId24"/>
      <p:italic r:id="rId25"/>
      <p:boldItalic r:id="rId26"/>
    </p:embeddedFont>
    <p:embeddedFont>
      <p:font typeface="Libre Baskerville" charset="0"/>
      <p:regular r:id="rId27"/>
      <p:bold r:id="rId28"/>
      <p:italic r:id="rId29"/>
    </p:embeddedFont>
    <p:embeddedFont>
      <p:font typeface="Calibri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3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1894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1028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anskruti-patil-2374662ab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anskruti12141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32" y="11502"/>
            <a:ext cx="12190815" cy="68464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48398" y="3810000"/>
            <a:ext cx="7246189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4400" b="1" dirty="0" smtClean="0">
                <a:solidFill>
                  <a:srgbClr val="FF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G</a:t>
            </a:r>
            <a:r>
              <a:rPr lang="en-IN" sz="4400" b="1" dirty="0" smtClean="0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lobal </a:t>
            </a:r>
            <a:r>
              <a:rPr lang="en-IN" sz="4400" b="1" dirty="0" smtClean="0">
                <a:solidFill>
                  <a:srgbClr val="FF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C</a:t>
            </a:r>
            <a:r>
              <a:rPr lang="en-IN" sz="4400" b="1" dirty="0" smtClean="0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ountry </a:t>
            </a:r>
            <a:r>
              <a:rPr lang="en-IN" sz="4400" b="1" dirty="0" smtClean="0">
                <a:solidFill>
                  <a:srgbClr val="FF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D</a:t>
            </a:r>
            <a:r>
              <a:rPr lang="en-IN" sz="4400" b="1" dirty="0" smtClean="0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ata </a:t>
            </a:r>
            <a:r>
              <a:rPr lang="en-IN" sz="4400" b="1" dirty="0" smtClean="0">
                <a:solidFill>
                  <a:srgbClr val="FF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A</a:t>
            </a:r>
            <a:r>
              <a:rPr lang="en-IN" sz="4400" b="1" dirty="0" smtClean="0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nalysis</a:t>
            </a:r>
            <a:endParaRPr lang="en-IN" sz="4400" b="1" dirty="0">
              <a:solidFill>
                <a:schemeClr val="dk1"/>
              </a:solidFill>
              <a:latin typeface="Bodoni MT" panose="02070603080606020203" pitchFamily="18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02678" y="5257800"/>
            <a:ext cx="743309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By</a:t>
            </a:r>
          </a:p>
          <a:p>
            <a:pPr algn="ctr"/>
            <a:endParaRPr lang="en-US" dirty="0"/>
          </a:p>
          <a:p>
            <a:pPr lvl="0" algn="ctr"/>
            <a:r>
              <a:rPr lang="en-US" sz="1800" dirty="0"/>
              <a:t> </a:t>
            </a:r>
            <a:r>
              <a:rPr lang="en-US" sz="1800" b="1" dirty="0" err="1"/>
              <a:t>Sanskruti</a:t>
            </a:r>
            <a:r>
              <a:rPr lang="en-US" sz="1800" b="1" dirty="0"/>
              <a:t>  </a:t>
            </a:r>
            <a:r>
              <a:rPr lang="en-US" sz="1800" b="1" dirty="0" err="1"/>
              <a:t>Patil</a:t>
            </a:r>
            <a:r>
              <a:rPr lang="en-US" sz="1800" b="1" dirty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</a:t>
            </a:r>
            <a:r>
              <a:rPr lang="en-IN" sz="3200" dirty="0" smtClean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4;p3"/>
          <p:cNvSpPr txBox="1"/>
          <p:nvPr/>
        </p:nvSpPr>
        <p:spPr>
          <a:xfrm>
            <a:off x="304800" y="4800600"/>
            <a:ext cx="9596120" cy="141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2400"/>
            </a:pPr>
            <a:endParaRPr lang="en-US" b="1" i="0" u="none" strike="noStrike" cap="none" dirty="0" smtClean="0">
              <a:solidFill>
                <a:schemeClr val="dk1"/>
              </a:solidFill>
              <a:latin typeface="Corbel" pitchFamily="34" charset="0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en-US" sz="2400" b="1" i="0" u="none" strike="noStrike" cap="none" dirty="0" smtClean="0">
                <a:solidFill>
                  <a:schemeClr val="dk1"/>
                </a:solidFill>
                <a:latin typeface="Corbel" pitchFamily="34" charset="0"/>
                <a:ea typeface="Calibri"/>
                <a:cs typeface="Calibri"/>
                <a:sym typeface="Calibri"/>
              </a:rPr>
              <a:t>Profiles:</a:t>
            </a:r>
            <a:endParaRPr lang="en-US" sz="2400" b="1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Wingdings" pitchFamily="2" charset="2"/>
              <a:buChar char="Ø"/>
            </a:pPr>
            <a:r>
              <a:rPr lang="en-US" sz="2400" b="1" dirty="0" smtClean="0">
                <a:latin typeface="Corbel" pitchFamily="34" charset="0"/>
                <a:sym typeface="Calibri"/>
              </a:rPr>
              <a:t>LinkedIn:</a:t>
            </a:r>
            <a:r>
              <a:rPr lang="en-US" sz="2400" b="1" dirty="0" smtClean="0">
                <a:ea typeface="Calibri"/>
                <a:sym typeface="Calibri"/>
              </a:rPr>
              <a:t> 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  <a:hlinkClick r:id="rId3"/>
              </a:rPr>
              <a:t>http://www.linkedin.com/in/sanskruti-patil-2374662ab</a:t>
            </a:r>
            <a:endParaRPr lang="en-US" sz="2400" dirty="0" smtClean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Wingdings" pitchFamily="2" charset="2"/>
              <a:buChar char="Ø"/>
            </a:pPr>
            <a:r>
              <a:rPr lang="en-US" sz="2400" b="1" dirty="0" err="1" smtClean="0">
                <a:latin typeface="Corbel" pitchFamily="34" charset="0"/>
                <a:sym typeface="Calibri"/>
              </a:rPr>
              <a:t>GitHub</a:t>
            </a:r>
            <a:r>
              <a:rPr lang="en-US" sz="2400" b="1" dirty="0" smtClean="0">
                <a:latin typeface="Corbel" pitchFamily="34" charset="0"/>
                <a:sym typeface="Calibri"/>
              </a:rPr>
              <a:t>:</a:t>
            </a:r>
            <a:r>
              <a:rPr lang="en-US" sz="2400" dirty="0" smtClean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hlinkClick r:id="rId4"/>
              </a:rPr>
              <a:t>Sanskruti121412 (</a:t>
            </a:r>
            <a:r>
              <a:rPr lang="en-US" sz="2400" dirty="0" err="1">
                <a:hlinkClick r:id="rId4"/>
              </a:rPr>
              <a:t>Sanskruti</a:t>
            </a:r>
            <a:r>
              <a:rPr lang="en-US" sz="2400" dirty="0">
                <a:hlinkClick r:id="rId4"/>
              </a:rPr>
              <a:t> </a:t>
            </a:r>
            <a:r>
              <a:rPr lang="en-US" sz="2400" dirty="0" err="1">
                <a:hlinkClick r:id="rId4"/>
              </a:rPr>
              <a:t>Patil</a:t>
            </a:r>
            <a:r>
              <a:rPr lang="en-US" sz="2400" dirty="0">
                <a:hlinkClick r:id="rId4"/>
              </a:rPr>
              <a:t>) · </a:t>
            </a:r>
            <a:r>
              <a:rPr lang="en-US" sz="2400" dirty="0" err="1">
                <a:hlinkClick r:id="rId4"/>
              </a:rPr>
              <a:t>GitHub</a:t>
            </a:r>
            <a:endParaRPr lang="en-US" sz="24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7656" y="912459"/>
            <a:ext cx="83353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Clr>
                <a:schemeClr val="dk1"/>
              </a:buClr>
              <a:buSzPts val="2400"/>
              <a:buFont typeface="Wingdings" pitchFamily="2" charset="2"/>
              <a:buChar char="Ø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name is </a:t>
            </a:r>
            <a:r>
              <a:rPr lang="en-IN" sz="24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Sanskruti</a:t>
            </a:r>
            <a:r>
              <a:rPr lang="en-I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IN" sz="24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Ravindra</a:t>
            </a:r>
            <a:r>
              <a:rPr lang="en-I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Patil</a:t>
            </a:r>
            <a:r>
              <a:rPr lang="en-IN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have recently completed my Master of Science (</a:t>
            </a:r>
            <a:r>
              <a:rPr lang="en-IN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M.Sc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in Computational Mathematics from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Kavayitri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Bahinabai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Chaudhari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North Maharashtra University, </a:t>
            </a:r>
            <a:r>
              <a:rPr lang="en-IN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Jalgaon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chemeClr val="dk1"/>
              </a:buClr>
              <a:buSzPts val="1800"/>
              <a:buFont typeface="Wingdings" pitchFamily="2" charset="2"/>
              <a:buChar char="Ø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</a:t>
            </a:r>
          </a:p>
          <a:p>
            <a:pPr lvl="0">
              <a:buClr>
                <a:schemeClr val="dk1"/>
              </a:buClr>
              <a:buSzPts val="1800"/>
            </a:pPr>
            <a:r>
              <a:rPr lang="en-IN" sz="2400" dirty="0" smtClean="0">
                <a:latin typeface="Calibri" pitchFamily="34" charset="0"/>
                <a:cs typeface="Calibri" pitchFamily="34" charset="0"/>
              </a:rPr>
              <a:t>I </a:t>
            </a:r>
            <a:r>
              <a:rPr lang="en-IN" sz="2400" dirty="0">
                <a:latin typeface="Calibri" pitchFamily="34" charset="0"/>
                <a:cs typeface="Calibri" pitchFamily="34" charset="0"/>
              </a:rPr>
              <a:t>want to learn Data Science to develop analytical and predictive models that can transform raw data into valuable information and support informed decision-making.</a:t>
            </a:r>
            <a:endParaRPr lang="en-IN" sz="2400" b="1" dirty="0">
              <a:solidFill>
                <a:schemeClr val="dk1"/>
              </a:solidFill>
              <a:latin typeface="Calibri" pitchFamily="34" charset="0"/>
              <a:ea typeface="Calibri"/>
              <a:cs typeface="Calibri" pitchFamily="34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1828800" cy="5416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600" b="1" dirty="0" smtClean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Index</a:t>
            </a:r>
            <a:endParaRPr lang="en-IN" sz="3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990600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/>
              <a:t>Objective of the Project.</a:t>
            </a:r>
          </a:p>
          <a:p>
            <a:endParaRPr lang="en-US" sz="20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Web Scrapping  process of the project.</a:t>
            </a:r>
          </a:p>
          <a:p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Key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Visulization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Key insights for analysis.</a:t>
            </a:r>
          </a:p>
          <a:p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Conculsion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855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109" y="203769"/>
            <a:ext cx="18036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Website: </a:t>
            </a:r>
            <a:endParaRPr lang="en-US" sz="32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12" y="838200"/>
            <a:ext cx="11430000" cy="5358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2762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613982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Objective of the Project : </a:t>
            </a:r>
            <a:endParaRPr lang="en-US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1219200"/>
            <a:ext cx="102108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/>
              <a:t>Includes </a:t>
            </a:r>
            <a:r>
              <a:rPr lang="en-US" sz="2000" b="1" dirty="0"/>
              <a:t>demographic, geographic, and socio-economic</a:t>
            </a:r>
            <a:r>
              <a:rPr lang="en-US" sz="2000" dirty="0"/>
              <a:t> attributes per country.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896308"/>
            <a:ext cx="879537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Ø"/>
            </a:pPr>
            <a:r>
              <a:rPr lang="en-US" sz="2000" dirty="0"/>
              <a:t>Structured for </a:t>
            </a:r>
            <a:r>
              <a:rPr lang="en-US" sz="2000" b="1" dirty="0"/>
              <a:t>categorical grouping</a:t>
            </a:r>
            <a:r>
              <a:rPr lang="en-US" sz="2000" dirty="0"/>
              <a:t> by size, population, and density.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2610415"/>
            <a:ext cx="84143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b="1" dirty="0"/>
              <a:t>Andorra:</a:t>
            </a:r>
            <a:r>
              <a:rPr lang="en-US" sz="2000" dirty="0"/>
              <a:t> small population &amp; area, medium density.</a:t>
            </a:r>
            <a:r>
              <a:rPr lang="en-US" sz="2000" dirty="0" smtClean="0"/>
              <a:t> 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2810470"/>
            <a:ext cx="85551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891" y="3352800"/>
            <a:ext cx="8171924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Ø"/>
            </a:pPr>
            <a:r>
              <a:rPr lang="en-US" sz="2000" b="1" dirty="0"/>
              <a:t>Afghanistan:</a:t>
            </a:r>
            <a:r>
              <a:rPr lang="en-US" sz="2000" dirty="0"/>
              <a:t> large area, medium population.</a:t>
            </a:r>
            <a:endParaRPr lang="en-US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891" y="3997276"/>
            <a:ext cx="906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Ø"/>
            </a:pPr>
            <a:r>
              <a:rPr lang="en-US" sz="2000" b="1" dirty="0"/>
              <a:t>Anguilla &amp; Antigua and Barbuda:</a:t>
            </a:r>
            <a:r>
              <a:rPr lang="en-US" sz="2000" dirty="0"/>
              <a:t> very small populations and small </a:t>
            </a:r>
            <a:r>
              <a:rPr lang="en-US" sz="2000" dirty="0" smtClean="0"/>
              <a:t>sizes.</a:t>
            </a:r>
            <a:endParaRPr lang="en-US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56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47015"/>
            <a:ext cx="91935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Webscrapping</a:t>
            </a:r>
            <a:r>
              <a:rPr lang="en-IN" sz="4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process of the project</a:t>
            </a:r>
            <a:r>
              <a:rPr lang="en-US" sz="4400" dirty="0" smtClean="0"/>
              <a:t> </a:t>
            </a:r>
            <a:r>
              <a:rPr lang="en-IN" sz="4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: </a:t>
            </a:r>
            <a:endParaRPr lang="en-US" sz="4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9436" y="3242992"/>
            <a:ext cx="80772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sz="1600" dirty="0"/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endParaRPr lang="en-US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9436" y="4017559"/>
            <a:ext cx="78970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</a:pPr>
            <a:endParaRPr lang="en-US" dirty="0"/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ClrTx/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667001" y="1003047"/>
            <a:ext cx="5569526" cy="52095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Select  the  </a:t>
            </a:r>
            <a:r>
              <a:rPr lang="en-US" sz="1600" b="1" dirty="0">
                <a:solidFill>
                  <a:schemeClr val="bg1"/>
                </a:solidFill>
              </a:rPr>
              <a:t>website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67000" y="1828800"/>
            <a:ext cx="5569525" cy="5334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Sending Request  and  Fetching 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67001" y="2675984"/>
            <a:ext cx="5569526" cy="56700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Importing  </a:t>
            </a:r>
            <a:r>
              <a:rPr lang="en-US" sz="1600" b="1" dirty="0" err="1" smtClean="0">
                <a:solidFill>
                  <a:schemeClr val="bg1"/>
                </a:solidFill>
              </a:rPr>
              <a:t>Requried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</a:rPr>
              <a:t> Libraries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618509" y="3573696"/>
            <a:ext cx="5583381" cy="50817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Extracting  Table  Data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66999" y="4386670"/>
            <a:ext cx="5569526" cy="51613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Converting  Extract  Data  Into  </a:t>
            </a:r>
            <a:r>
              <a:rPr lang="en-US" sz="1600" b="1" dirty="0" err="1" smtClean="0">
                <a:solidFill>
                  <a:schemeClr val="bg1"/>
                </a:solidFill>
              </a:rPr>
              <a:t>DataFrame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66999" y="5217942"/>
            <a:ext cx="5569526" cy="5334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Cleaning   and  </a:t>
            </a:r>
            <a:r>
              <a:rPr lang="en-US" sz="1600" b="1" dirty="0" err="1" smtClean="0">
                <a:solidFill>
                  <a:schemeClr val="bg1"/>
                </a:solidFill>
              </a:rPr>
              <a:t>Formating</a:t>
            </a:r>
            <a:r>
              <a:rPr lang="en-US" sz="1600" b="1" dirty="0" smtClean="0">
                <a:solidFill>
                  <a:schemeClr val="bg1"/>
                </a:solidFill>
              </a:rPr>
              <a:t>  the  Data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625437" y="6045752"/>
            <a:ext cx="5569526" cy="5334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Save  and  Analyze  the  Data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5181600" y="1524000"/>
            <a:ext cx="457200" cy="30480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5223164" y="2362200"/>
            <a:ext cx="457200" cy="30480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5237019" y="3268896"/>
            <a:ext cx="457200" cy="30480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5237019" y="4081870"/>
            <a:ext cx="457200" cy="30480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/>
          <p:cNvSpPr/>
          <p:nvPr/>
        </p:nvSpPr>
        <p:spPr>
          <a:xfrm>
            <a:off x="5237019" y="4906215"/>
            <a:ext cx="457200" cy="30480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>
            <a:off x="5243947" y="5751342"/>
            <a:ext cx="457200" cy="30480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45159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Before Cleaning the data:</a:t>
            </a:r>
            <a:endParaRPr lang="en-US" sz="32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57958"/>
            <a:ext cx="8915400" cy="21584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228600" y="3124200"/>
            <a:ext cx="42482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After Cleaning </a:t>
            </a:r>
            <a:r>
              <a:rPr lang="en-IN" sz="32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the data:</a:t>
            </a:r>
            <a:endParaRPr lang="en-US" sz="32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10000"/>
            <a:ext cx="10058400" cy="2310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49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3964" y="28093"/>
            <a:ext cx="6840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Top 10 Most Populated Countries: </a:t>
            </a:r>
            <a:endParaRPr lang="en-US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08780"/>
            <a:ext cx="7162800" cy="55158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7933006" y="990600"/>
            <a:ext cx="3810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There is a large population gap between India and </a:t>
            </a:r>
            <a:r>
              <a:rPr lang="en-US" sz="2400" dirty="0" smtClean="0"/>
              <a:t>the </a:t>
            </a:r>
            <a:r>
              <a:rPr lang="en-US" sz="2400" dirty="0"/>
              <a:t>United States</a:t>
            </a:r>
            <a:r>
              <a:rPr lang="en-US" sz="2400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Asian countries dominate the top positions</a:t>
            </a:r>
            <a:r>
              <a:rPr lang="en-US" sz="2400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Population gradually decreases from top to bottom.</a:t>
            </a:r>
          </a:p>
        </p:txBody>
      </p:sp>
    </p:spTree>
    <p:extLst>
      <p:ext uri="{BB962C8B-B14F-4D97-AF65-F5344CB8AC3E}">
        <p14:creationId xmlns:p14="http://schemas.microsoft.com/office/powerpoint/2010/main" val="361841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1" y="76200"/>
            <a:ext cx="66239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Top 10 Largest Countries by Area:</a:t>
            </a:r>
            <a:endParaRPr lang="en-US" sz="36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895713"/>
            <a:ext cx="7162800" cy="55812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724335" y="1258157"/>
            <a:ext cx="401046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Antarctica is the second largest region by area.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India ranks eighth despite having a very large population.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Area size gradually decreases from top to bottom.</a:t>
            </a:r>
          </a:p>
        </p:txBody>
      </p:sp>
    </p:spTree>
    <p:extLst>
      <p:ext uri="{BB962C8B-B14F-4D97-AF65-F5344CB8AC3E}">
        <p14:creationId xmlns:p14="http://schemas.microsoft.com/office/powerpoint/2010/main" val="149616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62247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Population </a:t>
            </a:r>
            <a:r>
              <a:rPr lang="en-US" sz="3600" b="1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v</a:t>
            </a:r>
            <a:r>
              <a:rPr lang="en-US" sz="3600" b="1" dirty="0" err="1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</a:t>
            </a:r>
            <a:r>
              <a:rPr lang="en-US" sz="3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Geographic Area:</a:t>
            </a:r>
            <a:endParaRPr lang="en-US" sz="36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4" y="852657"/>
            <a:ext cx="6646985" cy="57333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159283" y="1143000"/>
            <a:ext cx="473395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There is a positive relationship between area and population (generally).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Asian countries dominate the upper-right region (large area &amp; large population).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Smaller countries appear in the lower-left corner.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39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52400" y="119390"/>
            <a:ext cx="1013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Distribution 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by Country Size Category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4400"/>
            <a:ext cx="5791200" cy="5486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386732" y="1752600"/>
            <a:ext cx="52578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Small countries make up the largest share (47.6%).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Medium-sized countries account for 31.2%.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Large countries represent the smallest portion (21.2%).</a:t>
            </a:r>
          </a:p>
        </p:txBody>
      </p:sp>
    </p:spTree>
    <p:extLst>
      <p:ext uri="{BB962C8B-B14F-4D97-AF65-F5344CB8AC3E}">
        <p14:creationId xmlns:p14="http://schemas.microsoft.com/office/powerpoint/2010/main" val="238264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5334000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latin typeface="Corbe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7722" y="125377"/>
            <a:ext cx="63177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Correlation </a:t>
            </a:r>
            <a:r>
              <a:rPr lang="en-US" sz="2800" b="1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Heatmap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: Population </a:t>
            </a:r>
            <a:r>
              <a:rPr lang="en-US" sz="2800" b="1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vs</a:t>
            </a: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Area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3" y="736209"/>
            <a:ext cx="6400800" cy="59693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6781800" y="1205925"/>
            <a:ext cx="52425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The correlation value 0.41 indicates a moderate positive relationship.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Generally, countries with larger areas tend to have higher </a:t>
            </a:r>
            <a:endParaRPr lang="en-US" sz="2400" dirty="0" smtClean="0"/>
          </a:p>
          <a:p>
            <a:pPr lvl="1"/>
            <a:r>
              <a:rPr lang="en-US" sz="2400" dirty="0" smtClean="0"/>
              <a:t>    Populations.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24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However, the relationship is not very strong</a:t>
            </a:r>
            <a:r>
              <a:rPr lang="en-US" sz="2400" dirty="0" smtClean="0"/>
              <a:t>.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393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067" y="134789"/>
            <a:ext cx="301717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Conclusion</a:t>
            </a:r>
            <a:r>
              <a:rPr lang="en-IN" sz="4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: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9066" y="1021002"/>
            <a:ext cx="1075993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Population distribution is highly concentrated in a few countries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Most countries fall under the small size category, but large countries dominate land area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There is a moderate positive correlation (0.41) between area and population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/>
              <a:t>Regional differences significantly influence population and land distribution.</a:t>
            </a:r>
          </a:p>
          <a:p>
            <a:endParaRPr lang="en-US" sz="1800" dirty="0" smtClean="0">
              <a:latin typeface="Corb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5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2425</TotalTime>
  <Words>445</Words>
  <Application>Microsoft Office PowerPoint</Application>
  <PresentationFormat>Custom</PresentationFormat>
  <Paragraphs>82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Lato Black</vt:lpstr>
      <vt:lpstr>Corbel</vt:lpstr>
      <vt:lpstr>Wingdings</vt:lpstr>
      <vt:lpstr>Bodoni MT</vt:lpstr>
      <vt:lpstr>Libre Baskerville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DELL</cp:lastModifiedBy>
  <cp:revision>90</cp:revision>
  <dcterms:created xsi:type="dcterms:W3CDTF">2021-02-16T05:19:01Z</dcterms:created>
  <dcterms:modified xsi:type="dcterms:W3CDTF">2026-03-04T13:52:31Z</dcterms:modified>
</cp:coreProperties>
</file>